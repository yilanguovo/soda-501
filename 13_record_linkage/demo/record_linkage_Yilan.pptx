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80" y="2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9B7ECC9-85FF-49BC-F32F-2BF1E6609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35" y="3325513"/>
            <a:ext cx="6142857" cy="294285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A18B2BA-7FF0-95A1-7681-304086278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35" y="250292"/>
            <a:ext cx="6076190" cy="291428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16D2694D-2D99-E10E-490C-D5A14BB3F254}"/>
              </a:ext>
            </a:extLst>
          </p:cNvPr>
          <p:cNvSpPr/>
          <p:nvPr/>
        </p:nvSpPr>
        <p:spPr>
          <a:xfrm>
            <a:off x="2977288" y="5223053"/>
            <a:ext cx="1068018" cy="8924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9138A7-B674-2626-507B-F7121E46D497}"/>
              </a:ext>
            </a:extLst>
          </p:cNvPr>
          <p:cNvSpPr/>
          <p:nvPr/>
        </p:nvSpPr>
        <p:spPr>
          <a:xfrm>
            <a:off x="2977288" y="2164080"/>
            <a:ext cx="1068018" cy="8924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FAFC124-4DFB-317C-5EBD-152FCD058F49}"/>
              </a:ext>
            </a:extLst>
          </p:cNvPr>
          <p:cNvSpPr/>
          <p:nvPr/>
        </p:nvSpPr>
        <p:spPr>
          <a:xfrm>
            <a:off x="1483768" y="3862425"/>
            <a:ext cx="1068018" cy="4535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FCAFE74-4B1A-1CB0-341D-5B0DC923AB16}"/>
              </a:ext>
            </a:extLst>
          </p:cNvPr>
          <p:cNvSpPr/>
          <p:nvPr/>
        </p:nvSpPr>
        <p:spPr>
          <a:xfrm>
            <a:off x="1483768" y="766876"/>
            <a:ext cx="1068018" cy="4535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076D30B-569F-2236-1EE7-6F01E017B61B}"/>
              </a:ext>
            </a:extLst>
          </p:cNvPr>
          <p:cNvSpPr txBox="1"/>
          <p:nvPr/>
        </p:nvSpPr>
        <p:spPr>
          <a:xfrm>
            <a:off x="6758730" y="3033125"/>
            <a:ext cx="50290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Why Record Linkage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171951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17502-69D3-DB01-2FC4-5B4776E50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E1BF748-6D32-B888-05E6-56D1FAB00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35" y="3325513"/>
            <a:ext cx="6142857" cy="294285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B99AC30-B0E5-340E-C7AA-8C1ACAE82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35" y="250292"/>
            <a:ext cx="6076190" cy="291428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559B4C3-9CFE-9C26-84AC-BE1B5E20144D}"/>
              </a:ext>
            </a:extLst>
          </p:cNvPr>
          <p:cNvSpPr/>
          <p:nvPr/>
        </p:nvSpPr>
        <p:spPr>
          <a:xfrm>
            <a:off x="2977288" y="5223053"/>
            <a:ext cx="1068018" cy="8924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145C05-DB8C-7F80-7FB7-4B9BB747694C}"/>
              </a:ext>
            </a:extLst>
          </p:cNvPr>
          <p:cNvSpPr/>
          <p:nvPr/>
        </p:nvSpPr>
        <p:spPr>
          <a:xfrm>
            <a:off x="2977288" y="2164080"/>
            <a:ext cx="1068018" cy="8924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C634801-FE58-8328-57C7-EE796BF3B1CB}"/>
              </a:ext>
            </a:extLst>
          </p:cNvPr>
          <p:cNvSpPr/>
          <p:nvPr/>
        </p:nvSpPr>
        <p:spPr>
          <a:xfrm>
            <a:off x="1483768" y="3862425"/>
            <a:ext cx="1068018" cy="4535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DCBE01C-E20C-6D83-B7B1-972E43A67C57}"/>
              </a:ext>
            </a:extLst>
          </p:cNvPr>
          <p:cNvSpPr/>
          <p:nvPr/>
        </p:nvSpPr>
        <p:spPr>
          <a:xfrm>
            <a:off x="1483768" y="766876"/>
            <a:ext cx="1068018" cy="4535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F34B147-725F-49FD-0120-4D91D6F2E543}"/>
              </a:ext>
            </a:extLst>
          </p:cNvPr>
          <p:cNvSpPr txBox="1"/>
          <p:nvPr/>
        </p:nvSpPr>
        <p:spPr>
          <a:xfrm>
            <a:off x="6758730" y="3033125"/>
            <a:ext cx="50290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Step 1 Data Simulation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541680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3DA1E-44B0-B3AB-E9CC-45922AD4F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05A3A6F-4E14-C153-68BD-DE50835A3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35" y="3325513"/>
            <a:ext cx="6142857" cy="294285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FDA4005-A6D4-4CA2-C0C2-1D747DDA3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35" y="250292"/>
            <a:ext cx="6076190" cy="291428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5B91FD23-A033-297D-AFD8-405411AF3074}"/>
              </a:ext>
            </a:extLst>
          </p:cNvPr>
          <p:cNvSpPr/>
          <p:nvPr/>
        </p:nvSpPr>
        <p:spPr>
          <a:xfrm>
            <a:off x="2977288" y="5223053"/>
            <a:ext cx="1068018" cy="8924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2AC51A-9C08-559A-6E8F-339DDDA9E23E}"/>
              </a:ext>
            </a:extLst>
          </p:cNvPr>
          <p:cNvSpPr/>
          <p:nvPr/>
        </p:nvSpPr>
        <p:spPr>
          <a:xfrm>
            <a:off x="2977288" y="2164080"/>
            <a:ext cx="1068018" cy="8924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910A53E-1420-1C8D-D650-DBDB510958A5}"/>
              </a:ext>
            </a:extLst>
          </p:cNvPr>
          <p:cNvSpPr/>
          <p:nvPr/>
        </p:nvSpPr>
        <p:spPr>
          <a:xfrm>
            <a:off x="1483768" y="3862425"/>
            <a:ext cx="1068018" cy="4535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CDD4C4A-419C-7E59-FB51-8CF1F114C49D}"/>
              </a:ext>
            </a:extLst>
          </p:cNvPr>
          <p:cNvSpPr/>
          <p:nvPr/>
        </p:nvSpPr>
        <p:spPr>
          <a:xfrm>
            <a:off x="1483768" y="766876"/>
            <a:ext cx="1068018" cy="4535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D4BC89D-4988-3D78-85F6-B46D4E50D71F}"/>
              </a:ext>
            </a:extLst>
          </p:cNvPr>
          <p:cNvSpPr txBox="1"/>
          <p:nvPr/>
        </p:nvSpPr>
        <p:spPr>
          <a:xfrm>
            <a:off x="6956240" y="1871692"/>
            <a:ext cx="50290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Step 2 Data Matching</a:t>
            </a:r>
            <a:endParaRPr lang="zh-CN" altLang="en-US" sz="3200" b="1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7147772-319D-2B86-AB51-F85BA2DFAACA}"/>
              </a:ext>
            </a:extLst>
          </p:cNvPr>
          <p:cNvSpPr txBox="1"/>
          <p:nvPr/>
        </p:nvSpPr>
        <p:spPr>
          <a:xfrm>
            <a:off x="6956239" y="2664905"/>
            <a:ext cx="5029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highlight>
                  <a:srgbClr val="FFFF00"/>
                </a:highlight>
              </a:rPr>
              <a:t>Deterministic</a:t>
            </a:r>
            <a:r>
              <a:rPr lang="en-US" altLang="zh-CN" sz="2400" dirty="0"/>
              <a:t> Matching</a:t>
            </a:r>
            <a:endParaRPr lang="zh-CN" altLang="en-US" sz="2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C462F42-B5DA-E9FB-41AD-CB97B4E0303D}"/>
              </a:ext>
            </a:extLst>
          </p:cNvPr>
          <p:cNvSpPr txBox="1"/>
          <p:nvPr/>
        </p:nvSpPr>
        <p:spPr>
          <a:xfrm>
            <a:off x="6956239" y="3457385"/>
            <a:ext cx="5029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highlight>
                  <a:srgbClr val="00FFFF"/>
                </a:highlight>
              </a:rPr>
              <a:t>Probabilistic</a:t>
            </a:r>
            <a:r>
              <a:rPr lang="en-US" altLang="zh-CN" sz="2400" dirty="0"/>
              <a:t> Matching</a:t>
            </a:r>
            <a:endParaRPr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FE7C292-8CB8-7049-8CE9-6192E78D84B0}"/>
              </a:ext>
            </a:extLst>
          </p:cNvPr>
          <p:cNvSpPr txBox="1"/>
          <p:nvPr/>
        </p:nvSpPr>
        <p:spPr>
          <a:xfrm>
            <a:off x="7268200" y="3987016"/>
            <a:ext cx="34713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- Python: ECM</a:t>
            </a:r>
          </a:p>
          <a:p>
            <a:r>
              <a:rPr lang="en-US" altLang="zh-CN" sz="2400" dirty="0"/>
              <a:t>- R: </a:t>
            </a:r>
            <a:r>
              <a:rPr lang="en-US" altLang="zh-CN" sz="2400" dirty="0" err="1"/>
              <a:t>fastLink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07788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BF439-0CC2-ADAD-F936-62896A4CE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504587C-5F93-64D3-36B8-BAFDB33FA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35" y="3325513"/>
            <a:ext cx="6142857" cy="294285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2034AD3-4642-A56F-AB0D-00CC16229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35" y="250292"/>
            <a:ext cx="6076190" cy="291428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88FB3F47-EE49-9ECC-AC18-1F3D00C55F95}"/>
              </a:ext>
            </a:extLst>
          </p:cNvPr>
          <p:cNvSpPr/>
          <p:nvPr/>
        </p:nvSpPr>
        <p:spPr>
          <a:xfrm>
            <a:off x="2977288" y="5223053"/>
            <a:ext cx="1068018" cy="8924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96B5396-8DF9-9004-EBDB-4A5A55ECB03E}"/>
              </a:ext>
            </a:extLst>
          </p:cNvPr>
          <p:cNvSpPr/>
          <p:nvPr/>
        </p:nvSpPr>
        <p:spPr>
          <a:xfrm>
            <a:off x="2977288" y="2164080"/>
            <a:ext cx="1068018" cy="8924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4136599-F9EB-08FF-4655-0FC08FF5C1F5}"/>
              </a:ext>
            </a:extLst>
          </p:cNvPr>
          <p:cNvSpPr/>
          <p:nvPr/>
        </p:nvSpPr>
        <p:spPr>
          <a:xfrm>
            <a:off x="1483768" y="3862425"/>
            <a:ext cx="1068018" cy="4535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90E8FE4-9713-9E4D-E09F-133078807050}"/>
              </a:ext>
            </a:extLst>
          </p:cNvPr>
          <p:cNvSpPr/>
          <p:nvPr/>
        </p:nvSpPr>
        <p:spPr>
          <a:xfrm>
            <a:off x="1483768" y="766876"/>
            <a:ext cx="1068018" cy="4535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9A51AE-27E5-D408-F480-EE5C9F2EA0FA}"/>
              </a:ext>
            </a:extLst>
          </p:cNvPr>
          <p:cNvSpPr txBox="1"/>
          <p:nvPr/>
        </p:nvSpPr>
        <p:spPr>
          <a:xfrm>
            <a:off x="6833660" y="2918984"/>
            <a:ext cx="50290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Matching Tips: Blocking</a:t>
            </a:r>
            <a:endParaRPr lang="zh-CN" altLang="en-US" sz="3200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B719C6A-4C56-D416-D77F-29AB47603D9B}"/>
              </a:ext>
            </a:extLst>
          </p:cNvPr>
          <p:cNvSpPr/>
          <p:nvPr/>
        </p:nvSpPr>
        <p:spPr>
          <a:xfrm>
            <a:off x="5259631" y="307238"/>
            <a:ext cx="1068017" cy="5808269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658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A153B-95EA-99DF-2370-281974654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3824E4D6-4959-8A24-F412-19A23FED759D}"/>
              </a:ext>
            </a:extLst>
          </p:cNvPr>
          <p:cNvSpPr txBox="1"/>
          <p:nvPr/>
        </p:nvSpPr>
        <p:spPr>
          <a:xfrm>
            <a:off x="5559552" y="2984821"/>
            <a:ext cx="62957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Threshold for Posterior Probability</a:t>
            </a:r>
            <a:endParaRPr lang="zh-CN" altLang="en-US" sz="32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6B6E3BF-4875-ADCE-E47C-9723382B4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73" y="1867797"/>
            <a:ext cx="5015625" cy="293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572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0BE44-8840-70AF-C100-D443DDFFC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53CBF4F3-DD37-B12A-D571-FC1405FC605F}"/>
              </a:ext>
            </a:extLst>
          </p:cNvPr>
          <p:cNvSpPr txBox="1"/>
          <p:nvPr/>
        </p:nvSpPr>
        <p:spPr>
          <a:xfrm>
            <a:off x="2066619" y="1090206"/>
            <a:ext cx="80587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/>
              <a:t>Last Step: </a:t>
            </a:r>
          </a:p>
          <a:p>
            <a:pPr algn="ctr"/>
            <a:r>
              <a:rPr lang="en-US" altLang="zh-CN" sz="3200" b="1" dirty="0"/>
              <a:t>The relationship between Threshold and Matching Counts &amp; Matching Quality</a:t>
            </a:r>
            <a:endParaRPr lang="zh-CN" altLang="en-US" sz="3200" b="1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4432696-D7BF-E3A3-00F6-8FAE5F2BDF87}"/>
              </a:ext>
            </a:extLst>
          </p:cNvPr>
          <p:cNvSpPr txBox="1"/>
          <p:nvPr/>
        </p:nvSpPr>
        <p:spPr>
          <a:xfrm>
            <a:off x="2411807" y="3164669"/>
            <a:ext cx="76097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highlight>
                  <a:srgbClr val="FFFF00"/>
                </a:highlight>
              </a:rPr>
              <a:t>High</a:t>
            </a:r>
            <a:r>
              <a:rPr lang="en-US" altLang="zh-CN" sz="2400" dirty="0"/>
              <a:t> threshold -&gt; </a:t>
            </a:r>
            <a:r>
              <a:rPr lang="zh-CN" altLang="en-US" sz="2400" dirty="0"/>
              <a:t>↓</a:t>
            </a:r>
            <a:r>
              <a:rPr lang="en-US" altLang="zh-CN" sz="2400" dirty="0"/>
              <a:t> counts &amp; </a:t>
            </a:r>
            <a:r>
              <a:rPr lang="zh-CN" altLang="en-US" sz="2400" dirty="0"/>
              <a:t>↑</a:t>
            </a:r>
            <a:r>
              <a:rPr lang="en-US" altLang="zh-CN" sz="2400" dirty="0"/>
              <a:t>quality &amp; </a:t>
            </a:r>
            <a:r>
              <a:rPr lang="zh-CN" altLang="en-US" sz="2400" dirty="0"/>
              <a:t>↑</a:t>
            </a:r>
            <a:r>
              <a:rPr lang="en-US" altLang="zh-CN" sz="2400" dirty="0"/>
              <a:t>false negatives</a:t>
            </a:r>
          </a:p>
          <a:p>
            <a:endParaRPr lang="en-US" altLang="zh-CN" sz="2400" dirty="0"/>
          </a:p>
          <a:p>
            <a:r>
              <a:rPr lang="en-US" altLang="zh-CN" sz="2400" dirty="0">
                <a:highlight>
                  <a:srgbClr val="00FFFF"/>
                </a:highlight>
              </a:rPr>
              <a:t>Low</a:t>
            </a:r>
            <a:r>
              <a:rPr lang="en-US" altLang="zh-CN" sz="2400" dirty="0"/>
              <a:t> threshold -&gt; </a:t>
            </a:r>
            <a:r>
              <a:rPr lang="zh-CN" altLang="en-US" sz="2400" dirty="0"/>
              <a:t>↑</a:t>
            </a:r>
            <a:r>
              <a:rPr lang="en-US" altLang="zh-CN" sz="2400" dirty="0"/>
              <a:t> counts &amp; </a:t>
            </a:r>
            <a:r>
              <a:rPr lang="zh-CN" altLang="en-US" sz="2400" dirty="0"/>
              <a:t>↓ </a:t>
            </a:r>
            <a:r>
              <a:rPr lang="en-US" altLang="zh-CN" sz="2400" dirty="0"/>
              <a:t>quality &amp; </a:t>
            </a:r>
            <a:r>
              <a:rPr lang="zh-CN" altLang="en-US" sz="2400" dirty="0"/>
              <a:t>↑</a:t>
            </a:r>
            <a:r>
              <a:rPr lang="en-US" altLang="zh-CN" sz="2400" dirty="0"/>
              <a:t>false positives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19645915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68</Words>
  <Application>Microsoft Office PowerPoint</Application>
  <PresentationFormat>宽屏</PresentationFormat>
  <Paragraphs>14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9" baseType="lpstr"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Yilan</dc:creator>
  <cp:lastModifiedBy>Yilan Guo</cp:lastModifiedBy>
  <cp:revision>7</cp:revision>
  <dcterms:created xsi:type="dcterms:W3CDTF">2023-08-09T12:44:00Z</dcterms:created>
  <dcterms:modified xsi:type="dcterms:W3CDTF">2026-04-16T17:45:55Z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